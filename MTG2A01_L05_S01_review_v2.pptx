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12192000"/>
  <p:notesSz cx="6858000" cy="9144000"/>
  <p:embeddedFontLst>
    <p:embeddedFont>
      <p:font typeface="ADLaM Display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icChqe+/Rvba91Z7EKrgHjj0lG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C210FC6-FF0E-491D-B214-EB127C71F003}">
  <a:tblStyle styleId="{9C210FC6-FF0E-491D-B214-EB127C71F00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5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accent5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ADLaMDisplay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731520" y="2377440"/>
            <a:ext cx="1072865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MTG2A01_L05_S01 — कहानी का सही संख्या वाक्य</a:t>
            </a:r>
            <a:endParaRPr b="1" i="0" sz="4000" u="none" cap="none" strike="noStrike">
              <a:solidFill>
                <a:srgbClr val="0B3D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678"/>
                </a:solidFill>
                <a:latin typeface="Calibri"/>
                <a:ea typeface="Calibri"/>
                <a:cs typeface="Calibri"/>
                <a:sym typeface="Calibri"/>
              </a:rPr>
              <a:t>Page-by-page review · 19 pages + 1 new page (8b) · SME-revised flow (same pattern as MTG2A01_L03_S01)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Overall recommendations — SME-revised flow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822960" y="1463040"/>
            <a:ext cx="10545775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• Same arc as MTG2A01_L03_S01 and S02: story hook → worked example → recap, done twice with the SAME numbers. Marbles put together give 23 + 12 = 35, and birds flying away give 23 − 12 = 11. A compare page follows, and then practice in three repeatable screens.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• One story-reading routine everywhere: पहले कितने थे? → फिर क्या हुआ? → अब कितने हैं? It decides the sign (मिले या बढ़े → +, कम हुए → −) and the order (in a − sentence, the start number comes first).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• Practice screens: (A) story → pick 1 of 3 number sentences · (B) story → build the sentence with cards · (C) number sentence → pick 1 of 3 stories. Each item has 3 options: the correct one, the wrong sign, and a misread number (23 → 32, 45 → 54). This replaces the 2-option picks, which a child could get right 50% of the time by guessing.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• Pictures fade out: an animated picture (Pages 9–11), then a still picture (Page 13), then the story text only (Pages 15, 16, 18). On text-only items, WA2 brings the picture back as the hint, as the blocks do in S01's mental items.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• VO conventions from S01/S02: read + as जोड़, − as घटा and = as बराबर (the current VO says जमा). Practice VO is the story plus the task, with no step-by-step lines. CR: शाबाश! 23 जोड़ 12 बराबर 35.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• Removed: the 2 sort pages and the 2 sign-drag pages (their stories come back as full items), and the sign-only pick on Page 17. Added: Page 8b, which models sentence → story before Page 12 asks for it.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• Still open: comparison stories (‘कितने ज़्यादा’) stay out of this skill. All pictures are placeholders (no art key on this machine), and the VO is the stand-in Kalpana voice.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Page 1 · 01_landing.png</a:t>
            </a:r>
            <a:endParaRPr/>
          </a:p>
        </p:txBody>
      </p:sp>
      <p:pic>
        <p:nvPicPr>
          <p:cNvPr descr="01_landing.png"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731520"/>
            <a:ext cx="7680960" cy="42985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/>
          <p:nvPr/>
        </p:nvSpPr>
        <p:spPr>
          <a:xfrm>
            <a:off x="2240280" y="2743200"/>
            <a:ext cx="2103120" cy="56692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E7C6E"/>
                </a:solidFill>
                <a:latin typeface="Calibri"/>
                <a:ea typeface="Calibri"/>
                <a:cs typeface="Calibri"/>
                <a:sym typeface="Calibri"/>
              </a:rPr>
              <a:t>23 + 12 = 35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617720" y="2743200"/>
            <a:ext cx="2103120" cy="56692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6A3FB5"/>
                </a:solidFill>
                <a:latin typeface="Calibri"/>
                <a:ea typeface="Calibri"/>
                <a:cs typeface="Calibri"/>
                <a:sym typeface="Calibri"/>
              </a:rPr>
              <a:t>23 − 12 = 11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8229600" y="731520"/>
            <a:ext cx="3593592" cy="2369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the title “संख्या वाक्य”.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Equation: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23 + 12 = 35 and 23 − 12 = 11 </a:t>
            </a:r>
            <a:r>
              <a:rPr i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[two number-sentence cards in the empty hero area: teal for +, purple for −, the colours used in the rest of the lesson]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VO: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नमस्ते दोस्त! मैं हूँ स्विफ्टी! आज हम कहानी के लिए संख्या वाक्य बनाना सीखेंगे।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Page 2 · 02_STORY_SCENE.png</a:t>
            </a:r>
            <a:endParaRPr/>
          </a:p>
        </p:txBody>
      </p:sp>
      <p:pic>
        <p:nvPicPr>
          <p:cNvPr descr="02_STORY_SCENE.png"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" y="5788152"/>
            <a:ext cx="1737360" cy="972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_demo_crop.png" id="110" name="Google Shape;11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731520"/>
            <a:ext cx="7680960" cy="453203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 txBox="1"/>
          <p:nvPr/>
        </p:nvSpPr>
        <p:spPr>
          <a:xfrm>
            <a:off x="8229600" y="731520"/>
            <a:ext cx="3593592" cy="2185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entire slide content with the following: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On-Screen Text: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परी के पास 23 कंचे हैं। आरु के पास 12 कंचे हैं। दोनों के पास मिलाकर कुल कितने कंचे है?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VO1: आइए, एक कहानी पढ़ते हैं।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VO2: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परी के पास 23 कंचे थे और आरु के पास 12 कंचे थे। दोनों के पास मिलाकर कितने कंचे हैं?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[Highlight each word in sync with the VO.]</a:t>
            </a:r>
            <a:endParaRPr i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1764793" y="1775429"/>
            <a:ext cx="5111496" cy="2209458"/>
          </a:xfrm>
          <a:prstGeom prst="roundRect">
            <a:avLst>
              <a:gd fmla="val 8000" name="adj"/>
            </a:avLst>
          </a:prstGeom>
          <a:solidFill>
            <a:srgbClr val="F4F8FE"/>
          </a:solidFill>
          <a:ln cap="flat" cmpd="sng" w="15875">
            <a:solidFill>
              <a:srgbClr val="9DC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परी के पास 23 कंचे हैं। आरु के पास 12 कंचे हैं। दोनों ने पास मिलाकर कुल कितने कंचे हैं?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/>
        </p:nvSpPr>
        <p:spPr>
          <a:xfrm>
            <a:off x="365760" y="137160"/>
            <a:ext cx="243919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Page 2 · 02_STORY_SCENE.png</a:t>
            </a:r>
            <a:endParaRPr/>
          </a:p>
        </p:txBody>
      </p:sp>
      <p:pic>
        <p:nvPicPr>
          <p:cNvPr descr="02_STORY_SCENE.png" id="118" name="Google Shape;1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" y="5788152"/>
            <a:ext cx="1737360" cy="97229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9" name="Google Shape;119;p5"/>
          <p:cNvGraphicFramePr/>
          <p:nvPr/>
        </p:nvGraphicFramePr>
        <p:xfrm>
          <a:off x="6385559" y="6660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{9C210FC6-FF0E-491D-B214-EB127C71F003}</a:tableStyleId>
              </a:tblPr>
              <a:tblGrid>
                <a:gridCol w="537700"/>
                <a:gridCol w="2566475"/>
                <a:gridCol w="2551175"/>
              </a:tblGrid>
              <a:tr h="66842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B3D8C"/>
                          </a:solidFill>
                        </a:rPr>
                        <a:t>Recommendations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Animate the story text zooming out and moving upward.</a:t>
                      </a:r>
                      <a:endParaRPr/>
                    </a:p>
                  </a:txBody>
                  <a:tcPr marT="45725" marB="45725" marR="91450" marL="91450" anchor="ctr"/>
                </a:tc>
                <a:tc hMerge="1"/>
                <a:tc hMerge="1"/>
              </a:tr>
              <a:tr h="286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Step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Voice-over 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Visual Action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23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आइए, इस कहानी के लिए संख्या वाक्य बनाते हैं।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Show the story on screen.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59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परी के पास 23 कंचे हैं।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Highlight 23. Show Pari's photo, 23 marbles with SFX and the number card 23.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23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आरू के पास 12 कंचे हैं।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Highlight 12. Show Aaru's photo, 12 marbles with SFX and the number card 12.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859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अब हमें पता करना है कि दोनों के पास मिलाकर कुल कितने कंचे हैं। इसलिए हम परी और आरू के कंचों को जोड़ेंगे।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Highlight the question. Place the + card between 23 and 12.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68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तो हमारा संख्या वाक्य बना—23 जोड़ 12 बराबर कितना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= and ? appear in syn with VO. Highlight each number and symbol in sync with the VO.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77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परी और आरू के कंचे मिलाने पर कुल 35 कंचे हुए।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Animate the two groups of marbles coming together.  </a:t>
                      </a:r>
                      <a:r>
                        <a:rPr lang="en-US" sz="1200"/>
                        <a:t>Replace ? with 35.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59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इसलिए इस कहानी का संख्या वाक्य है—23 जोड़ 12 बराबर 35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Before starting the VO, r</a:t>
                      </a:r>
                      <a:r>
                        <a:rPr lang="en-US" sz="1200"/>
                        <a:t>emove the visuals and move the equation upward. Highlight each number and symbol sequentially in sync with the VO.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pic>
        <p:nvPicPr>
          <p:cNvPr descr="frame_demo_crop.png" id="120" name="Google Shape;12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" y="981501"/>
            <a:ext cx="6286700" cy="370937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1245108" y="2243455"/>
            <a:ext cx="777240" cy="713232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Pari’s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2904744" y="2243455"/>
            <a:ext cx="777240" cy="713232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Aaru’s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190244" y="3011551"/>
            <a:ext cx="928116" cy="65836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Pari’s 23 marbles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2849880" y="3011551"/>
            <a:ext cx="950976" cy="65836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Aaru’s 12 marbles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896868" y="3241278"/>
            <a:ext cx="411480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F86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509516" y="3019157"/>
            <a:ext cx="873252" cy="65836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Combined group of marbles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17576" y="1139879"/>
            <a:ext cx="5623560" cy="1004120"/>
          </a:xfrm>
          <a:prstGeom prst="roundRect">
            <a:avLst>
              <a:gd fmla="val 8000" name="adj"/>
            </a:avLst>
          </a:prstGeom>
          <a:solidFill>
            <a:srgbClr val="F4F8FE"/>
          </a:solidFill>
          <a:ln cap="flat" cmpd="sng" w="15875">
            <a:solidFill>
              <a:srgbClr val="9DC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परी के पास </a:t>
            </a:r>
            <a:r>
              <a:rPr b="1" lang="en-US" sz="1800">
                <a:solidFill>
                  <a:srgbClr val="1B2A44"/>
                </a:solidFill>
                <a:highlight>
                  <a:srgbClr val="FFF2A8"/>
                </a:highlight>
                <a:latin typeface="Calibri"/>
                <a:ea typeface="Calibri"/>
                <a:cs typeface="Calibri"/>
                <a:sym typeface="Calibri"/>
              </a:rPr>
              <a:t>23</a:t>
            </a: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 कंचे हैं। आरु के पास </a:t>
            </a:r>
            <a:r>
              <a:rPr b="1" lang="en-US" sz="1800">
                <a:solidFill>
                  <a:srgbClr val="1B2A44"/>
                </a:solidFill>
                <a:highlight>
                  <a:srgbClr val="FFF2A8"/>
                </a:highlight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 कंचे हैं। </a:t>
            </a:r>
            <a:endParaRPr sz="1800">
              <a:solidFill>
                <a:srgbClr val="1B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दोनों के पास मिलाकर कुल कितने कंचे हैं?</a:t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1322832" y="3961769"/>
            <a:ext cx="589787" cy="530352"/>
          </a:xfrm>
          <a:prstGeom prst="roundRect">
            <a:avLst>
              <a:gd fmla="val 16667" name="adj"/>
            </a:avLst>
          </a:prstGeom>
          <a:solidFill>
            <a:srgbClr val="FFF1B3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2161610" y="3961769"/>
            <a:ext cx="589787" cy="530352"/>
          </a:xfrm>
          <a:prstGeom prst="roundRect">
            <a:avLst>
              <a:gd fmla="val 16667" name="adj"/>
            </a:avLst>
          </a:prstGeom>
          <a:solidFill>
            <a:srgbClr val="FFF1B3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3000388" y="3961769"/>
            <a:ext cx="589787" cy="530352"/>
          </a:xfrm>
          <a:prstGeom prst="roundRect">
            <a:avLst>
              <a:gd fmla="val 16667" name="adj"/>
            </a:avLst>
          </a:prstGeom>
          <a:solidFill>
            <a:srgbClr val="FFF1B3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837702" y="3961769"/>
            <a:ext cx="589787" cy="530352"/>
          </a:xfrm>
          <a:prstGeom prst="roundRect">
            <a:avLst>
              <a:gd fmla="val 16667" name="adj"/>
            </a:avLst>
          </a:prstGeom>
          <a:solidFill>
            <a:srgbClr val="FFF1B3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669536" y="3961769"/>
            <a:ext cx="589787" cy="530352"/>
          </a:xfrm>
          <a:prstGeom prst="roundRect">
            <a:avLst>
              <a:gd fmla="val 16667" name="adj"/>
            </a:avLst>
          </a:prstGeom>
          <a:solidFill>
            <a:srgbClr val="FFF1B3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Page 3 · 03_STORY_SCENE.png</a:t>
            </a:r>
            <a:endParaRPr/>
          </a:p>
        </p:txBody>
      </p:sp>
      <p:pic>
        <p:nvPicPr>
          <p:cNvPr descr="03_STORY_SCENE.png" id="138" name="Google Shape;1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" y="5713484"/>
            <a:ext cx="1737360" cy="972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_demo_crop.png" id="139" name="Google Shape;13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731520"/>
            <a:ext cx="7680960" cy="453203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 txBox="1"/>
          <p:nvPr/>
        </p:nvSpPr>
        <p:spPr>
          <a:xfrm>
            <a:off x="8229600" y="731520"/>
            <a:ext cx="3593592" cy="2369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entire slide content with the following: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Screen Text: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तार पर 23 चिड़ियाँ बैठी थी। फिर 12 चिड़ियाँ उड़ गईं।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VO1: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आइए, एक और कहानी सुनते हैं।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VO2: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एक तार पर 23 चिड़ियाँ बैठी थी। उनमें से 12 चिड़ियाँ उड़ गईं। अब तार पर कितनी चिड़ियाँ बची हैं?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[[Highlight each word in sync with the VO.]</a:t>
            </a:r>
            <a:b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764800" y="1775425"/>
            <a:ext cx="5254200" cy="2209500"/>
          </a:xfrm>
          <a:prstGeom prst="roundRect">
            <a:avLst>
              <a:gd fmla="val 8000" name="adj"/>
            </a:avLst>
          </a:prstGeom>
          <a:solidFill>
            <a:srgbClr val="F4F8FE"/>
          </a:solidFill>
          <a:ln cap="flat" cmpd="sng" w="15875">
            <a:solidFill>
              <a:srgbClr val="9DC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एक तार पर 23 चिड़ियाँ बैठी थीं। उनमें से 12 चिड़ियाँ उड़ गईं। अब तार पर कितनी चिड़ियाँ बची हैं?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Page 3 · 03_STORY_SCENE.png</a:t>
            </a:r>
            <a:endParaRPr/>
          </a:p>
        </p:txBody>
      </p:sp>
      <p:pic>
        <p:nvPicPr>
          <p:cNvPr descr="03_STORY_SCENE.png" id="148" name="Google Shape;1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" y="5713484"/>
            <a:ext cx="1737360" cy="972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_demo_crop.png" id="149" name="Google Shape;14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869" y="1015098"/>
            <a:ext cx="6183265" cy="364834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/>
          <p:nvPr/>
        </p:nvSpPr>
        <p:spPr>
          <a:xfrm>
            <a:off x="914400" y="2383412"/>
            <a:ext cx="4910328" cy="125649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 birds on a wire. Then animate 12 birds fly away, 11 are left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710946" y="1176632"/>
            <a:ext cx="5317236" cy="1045246"/>
          </a:xfrm>
          <a:prstGeom prst="roundRect">
            <a:avLst>
              <a:gd fmla="val 8000" name="adj"/>
            </a:avLst>
          </a:prstGeom>
          <a:solidFill>
            <a:srgbClr val="F4F8FE"/>
          </a:solidFill>
          <a:ln cap="flat" cmpd="sng" w="15875">
            <a:solidFill>
              <a:srgbClr val="9DC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तार पर 23 चिड़ियाँ बैठी थीं। उनमें से 12 चिड़ियाँ उड़ गईं। अब तार पर कितनी चिड़ियाँ बची हैं?</a:t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801368" y="3863227"/>
            <a:ext cx="589787" cy="530352"/>
          </a:xfrm>
          <a:prstGeom prst="roundRect">
            <a:avLst>
              <a:gd fmla="val 16667" name="adj"/>
            </a:avLst>
          </a:prstGeom>
          <a:solidFill>
            <a:srgbClr val="FFF1B3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2459734" y="3863227"/>
            <a:ext cx="589787" cy="530352"/>
          </a:xfrm>
          <a:prstGeom prst="roundRect">
            <a:avLst>
              <a:gd fmla="val 16667" name="adj"/>
            </a:avLst>
          </a:prstGeom>
          <a:solidFill>
            <a:srgbClr val="FFF1B3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122675" y="3863227"/>
            <a:ext cx="589787" cy="530352"/>
          </a:xfrm>
          <a:prstGeom prst="roundRect">
            <a:avLst>
              <a:gd fmla="val 16667" name="adj"/>
            </a:avLst>
          </a:prstGeom>
          <a:solidFill>
            <a:srgbClr val="FFF1B3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785616" y="3863227"/>
            <a:ext cx="589787" cy="530352"/>
          </a:xfrm>
          <a:prstGeom prst="roundRect">
            <a:avLst>
              <a:gd fmla="val 16667" name="adj"/>
            </a:avLst>
          </a:prstGeom>
          <a:solidFill>
            <a:srgbClr val="FFF1B3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448557" y="3863227"/>
            <a:ext cx="589787" cy="530352"/>
          </a:xfrm>
          <a:prstGeom prst="roundRect">
            <a:avLst>
              <a:gd fmla="val 16667" name="adj"/>
            </a:avLst>
          </a:prstGeom>
          <a:solidFill>
            <a:srgbClr val="FFF1B3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7" name="Google Shape;157;p7"/>
          <p:cNvGraphicFramePr/>
          <p:nvPr/>
        </p:nvGraphicFramePr>
        <p:xfrm>
          <a:off x="6438713" y="607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{9C210FC6-FF0E-491D-B214-EB127C71F003}</a:tableStyleId>
              </a:tblPr>
              <a:tblGrid>
                <a:gridCol w="442750"/>
                <a:gridCol w="2649575"/>
                <a:gridCol w="2442275"/>
              </a:tblGrid>
              <a:tr h="21465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0B3D8C"/>
                          </a:solidFill>
                        </a:rPr>
                        <a:t>Recommendations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Animate the story text zooming out and moving upward.</a:t>
                      </a:r>
                      <a:endParaRPr/>
                    </a:p>
                  </a:txBody>
                  <a:tcPr marT="26325" marB="26325" marR="52625" marL="52625" anchor="ctr"/>
                </a:tc>
                <a:tc hMerge="1"/>
                <a:tc hMerge="1"/>
              </a:tr>
              <a:tr h="214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Step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Voice-over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Visual Action</a:t>
                      </a:r>
                      <a:endParaRPr/>
                    </a:p>
                  </a:txBody>
                  <a:tcPr marT="26325" marB="26325" marR="52625" marL="52625" anchor="ctr"/>
                </a:tc>
              </a:tr>
              <a:tr h="3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अब इस कहानी के लिए संख्या वाक्य बनाते हैं।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Show the story on screen.</a:t>
                      </a:r>
                      <a:endParaRPr/>
                    </a:p>
                  </a:txBody>
                  <a:tcPr marT="26325" marB="26325" marR="52625" marL="52625" anchor="ctr"/>
                </a:tc>
              </a:tr>
              <a:tr h="666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2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तार पर 23 चिड़ियाँ बैठी थीं।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Highlight 23 in the story. Show 23 birds sitting on a wire with SFX and the number card 23 below.</a:t>
                      </a:r>
                      <a:endParaRPr/>
                    </a:p>
                  </a:txBody>
                  <a:tcPr marT="26325" marB="26325" marR="52625" marL="52625" anchor="ctr"/>
                </a:tc>
              </a:tr>
              <a:tr h="82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3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उनमें से 12 चिड़ियाँ उड़ गईं।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Highlight 12 in the story. Animate 12 birds flying away with SFX, leaving 11 birds on the wire. Show the number card 12.</a:t>
                      </a:r>
                      <a:endParaRPr/>
                    </a:p>
                  </a:txBody>
                  <a:tcPr marT="26325" marB="26325" marR="52625" marL="52625" anchor="ctr"/>
                </a:tc>
              </a:tr>
              <a:tr h="666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4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अब हमें पता करना है कि तार पर कितनी चिड़ियाँ बची हैं। इसलिए हम 23 में से 12 घटाएँगे।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Highlight the question. Show the subtraction sign (−) between 23 and 12.</a:t>
                      </a:r>
                      <a:endParaRPr/>
                    </a:p>
                  </a:txBody>
                  <a:tcPr marT="26325" marB="26325" marR="52625" marL="52625" anchor="ctr"/>
                </a:tc>
              </a:tr>
              <a:tr h="54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5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तो हमारा संख्या वाक्य बना—23 घटा 12 बराबर कितना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= and ? appear in sync with VO</a:t>
                      </a:r>
                      <a:r>
                        <a:rPr lang="en-US" sz="1200"/>
                        <a:t>. Highlight each number and symbol in sync with the VO.</a:t>
                      </a:r>
                      <a:endParaRPr/>
                    </a:p>
                  </a:txBody>
                  <a:tcPr marT="26325" marB="26325" marR="52625" marL="52625" anchor="ctr"/>
                </a:tc>
              </a:tr>
              <a:tr h="512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6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23 में से 12 चिड़ियाओं के उड़ जाने के बाद तार पर 11 चिड़ियाँ बचीं।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Highlight the 11 remaining birds on the wire. Replace ? with 11.</a:t>
                      </a:r>
                      <a:endParaRPr/>
                    </a:p>
                  </a:txBody>
                  <a:tcPr marT="26325" marB="26325" marR="52625" marL="52625" anchor="ctr"/>
                </a:tc>
              </a:tr>
              <a:tr h="666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7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इसलिए इस कहानी का संख्या वाक्य है—23 घटा 12 बराबर 11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Before starting the VO, r</a:t>
                      </a:r>
                      <a:r>
                        <a:rPr lang="en-US" sz="1200"/>
                        <a:t>emove visuals and move the equation upward. Highlight each number and symbol sequentially in sync with the VO.</a:t>
                      </a:r>
                      <a:endParaRPr/>
                    </a:p>
                  </a:txBody>
                  <a:tcPr marT="26325" marB="26325" marR="52625" marL="526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Page 4 · 04_MEET_VACHAN.png</a:t>
            </a:r>
            <a:endParaRPr/>
          </a:p>
        </p:txBody>
      </p:sp>
      <p:pic>
        <p:nvPicPr>
          <p:cNvPr descr="04_MEET_VACHAN.png" id="164" name="Google Shape;1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554428"/>
            <a:ext cx="2084224" cy="11664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_demo_crop.png" id="165" name="Google Shape;16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53" y="1014984"/>
            <a:ext cx="6756545" cy="398659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 txBox="1"/>
          <p:nvPr/>
        </p:nvSpPr>
        <p:spPr>
          <a:xfrm>
            <a:off x="576554" y="1196766"/>
            <a:ext cx="59521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संख्याएँ वही, पर संख्या वाक्य अलग!</a:t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988032" y="1993392"/>
            <a:ext cx="2332616" cy="1709183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28575">
            <a:solidFill>
              <a:srgbClr val="0E7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262352" y="2121408"/>
            <a:ext cx="1850007" cy="68497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Pari’s and Aaru’s marbles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1079472" y="2864692"/>
            <a:ext cx="2171747" cy="215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E7C6E"/>
                </a:solidFill>
                <a:latin typeface="Calibri"/>
                <a:ea typeface="Calibri"/>
                <a:cs typeface="Calibri"/>
                <a:sym typeface="Calibri"/>
              </a:rPr>
              <a:t>कंचे </a:t>
            </a:r>
            <a:r>
              <a:rPr b="1" lang="en-US" sz="1400">
                <a:solidFill>
                  <a:srgbClr val="0E7C6E"/>
                </a:solidFill>
                <a:latin typeface="Calibri"/>
                <a:ea typeface="Calibri"/>
                <a:cs typeface="Calibri"/>
                <a:sym typeface="Calibri"/>
              </a:rPr>
              <a:t>मिलाए</a:t>
            </a:r>
            <a:endParaRPr b="1" i="0" sz="1400">
              <a:solidFill>
                <a:srgbClr val="0E7C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294871" y="3189124"/>
            <a:ext cx="1689136" cy="40446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E7C6E"/>
                </a:solidFill>
                <a:latin typeface="Calibri"/>
                <a:ea typeface="Calibri"/>
                <a:cs typeface="Calibri"/>
                <a:sym typeface="Calibri"/>
              </a:rPr>
              <a:t>23 + 12 = 35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4096992" y="1993392"/>
            <a:ext cx="2332616" cy="1709183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28575">
            <a:solidFill>
              <a:srgbClr val="6A3F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4371311" y="2121408"/>
            <a:ext cx="1850007" cy="68497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 birds fly away, 11 are left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4221446" y="2893722"/>
            <a:ext cx="2171747" cy="215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6A3FB5"/>
                </a:solidFill>
                <a:latin typeface="Calibri"/>
                <a:ea typeface="Calibri"/>
                <a:cs typeface="Calibri"/>
                <a:sym typeface="Calibri"/>
              </a:rPr>
              <a:t>चिड़ियाँ कम हो गईं</a:t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4462752" y="3216561"/>
            <a:ext cx="1689136" cy="40446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6A3FB5"/>
                </a:solidFill>
                <a:latin typeface="Calibri"/>
                <a:ea typeface="Calibri"/>
                <a:cs typeface="Calibri"/>
                <a:sym typeface="Calibri"/>
              </a:rPr>
              <a:t>23 − 12 = 11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5" name="Google Shape;175;p8"/>
          <p:cNvGraphicFramePr/>
          <p:nvPr/>
        </p:nvGraphicFramePr>
        <p:xfrm>
          <a:off x="6954940" y="7109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{9C210FC6-FF0E-491D-B214-EB127C71F003}</a:tableStyleId>
              </a:tblPr>
              <a:tblGrid>
                <a:gridCol w="497425"/>
                <a:gridCol w="1920250"/>
                <a:gridCol w="2670050"/>
              </a:tblGrid>
              <a:tr h="26180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0B3D8C"/>
                          </a:solidFill>
                        </a:rPr>
                        <a:t>Recommendations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0B3D8C"/>
                          </a:solidFill>
                          <a:highlight>
                            <a:srgbClr val="FFFF00"/>
                          </a:highlight>
                        </a:rPr>
                        <a:t>Delete this slide.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Heading Text:</a:t>
                      </a:r>
                      <a:r>
                        <a:rPr lang="en-US" sz="1100"/>
                        <a:t> संख्याएँ वही, पर संख्या वाक्य अलग!</a:t>
                      </a:r>
                      <a:endParaRPr/>
                    </a:p>
                  </a:txBody>
                  <a:tcPr marT="26325" marB="26325" marR="52625" marL="52625" anchor="ctr"/>
                </a:tc>
                <a:tc hMerge="1"/>
                <a:tc hMerge="1"/>
              </a:tr>
              <a:tr h="261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Step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Voice-over 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Visual Action</a:t>
                      </a:r>
                      <a:endParaRPr/>
                    </a:p>
                  </a:txBody>
                  <a:tcPr marT="26325" marB="26325" marR="52625" marL="52625" anchor="ctr"/>
                </a:tc>
              </a:tr>
              <a:tr h="65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1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दोनों कहानियों में संख्याएँ वही हैं—23 और 12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Show both story cards. Highlight 23 and 12 in both equations simultaneously.</a:t>
                      </a:r>
                      <a:endParaRPr/>
                    </a:p>
                  </a:txBody>
                  <a:tcPr marT="26325" marB="26325" marR="52625" marL="52625" anchor="ctr"/>
                </a:tc>
              </a:tr>
              <a:tr h="1198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2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पहली कहानी में कंचे मिलाए, इसलिए जोड़ किया। 23 जोड़ 12 बराबर 35।”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Highlight the left card. Animate the marbles coming together. Pulse the + symbol when the VO says “जोड़ किया”. Then highlight 23 → + → 12 → = → 35 sequentially in sync with the VO.</a:t>
                      </a:r>
                      <a:endParaRPr/>
                    </a:p>
                  </a:txBody>
                  <a:tcPr marT="26325" marB="26325" marR="52625" marL="52625" anchor="ctr"/>
                </a:tc>
              </a:tr>
              <a:tr h="123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3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दूसरी कहानी में चिड़ियाँ कम हो गईं, इसलिए घटाया। 23 घटा 12 बराबर 11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Highlight the right card. Animate 12 birds flying away, leaving 11 birds on the wire. Pulse the − symbol when the VO says “घटाया”. Then highlight 23 → − → 12 → = → 11 sequentially in sync with the VO.</a:t>
                      </a:r>
                      <a:endParaRPr/>
                    </a:p>
                  </a:txBody>
                  <a:tcPr marT="26325" marB="26325" marR="52625" marL="52625" anchor="ctr"/>
                </a:tc>
              </a:tr>
              <a:tr h="100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4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देखा! संख्याएँ वही हैं, पर संख्या वाक्य अलग हैं!</a:t>
                      </a:r>
                      <a:endParaRPr/>
                    </a:p>
                  </a:txBody>
                  <a:tcPr marT="26325" marB="26325" marR="52625" marL="52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Bring both cards into focus. Highlight 23 and 12 in both equations, followed by the + and − symbols simultaneously to emphasize the difference.</a:t>
                      </a:r>
                      <a:endParaRPr/>
                    </a:p>
                  </a:txBody>
                  <a:tcPr marT="26325" marB="26325" marR="52625" marL="526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Page 5 · 05_STORY_SCENE.png</a:t>
            </a:r>
            <a:endParaRPr/>
          </a:p>
        </p:txBody>
      </p:sp>
      <p:pic>
        <p:nvPicPr>
          <p:cNvPr descr="05_STORY_SCENE.png" id="181" name="Google Shape;1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" y="5788152"/>
            <a:ext cx="1737360" cy="972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_practice.png" id="182" name="Google Shape;18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731520"/>
            <a:ext cx="768096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9"/>
          <p:cNvSpPr txBox="1"/>
          <p:nvPr/>
        </p:nvSpPr>
        <p:spPr>
          <a:xfrm>
            <a:off x="1417320" y="1091368"/>
            <a:ext cx="5486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सही चिह्न चुनकर संख्या वाक्य पूरा कीजिए। </a:t>
            </a:r>
            <a:endParaRPr b="0" i="0" sz="1800">
              <a:solidFill>
                <a:srgbClr val="1B2A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8138159" y="685800"/>
            <a:ext cx="3886200" cy="49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entire slide content with the following: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सही चिह्न चुनकर संख्या वाक्य पूरा कीजिए</a:t>
            </a:r>
            <a:b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Story Text: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एक बस में 24 सवारियाँ हैं। अगले बस अड्डे पर 16 सवारियाँ और चढ़ गईं। अब बस में कितनी सवारियाँ हैं?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VO1: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एक बस में 24 सवारियाँ हैं। अगले बस अड्डे पर 16 सवारियाँ और चढ़ गईं। अब बस में कितनी सवारियाँ हो गईं?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[Highlight the story text in sync with the VO.]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VO2: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बताइए, इसमें जोड़ करना है या घटाना हैं? सही चिह्न चुनिए।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 Action: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Drag and Drop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शाबाश! 24 जोड़ 16 बराबर 40.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[Move the </a:t>
            </a:r>
            <a:r>
              <a:rPr b="1"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symbol into the empty box and highlight the completed number sentence in sync with the VO.]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Feedback/Hints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WA1: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Bounce back + Hint VO: पहले 24 सवारियाँ थीं। फिर 16 सवारियाँ और चढ़ी, तो सवारियाँ बढ़ी या कम हुईं?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[Play the animation of 16 passengers boarding the bus, highlighting the increase in passengers.]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WA2: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Wiggle the selected option, highlight/pulsate the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symbol, and fade out the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symbol. When the child taps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move it into the empty box and play the VO: “24 जोड़ 16 बराबर 40”</a:t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868680" y="1554480"/>
            <a:ext cx="6675120" cy="9601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9DC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एक बस में </a:t>
            </a:r>
            <a:r>
              <a:rPr lang="en-US" sz="1800">
                <a:solidFill>
                  <a:srgbClr val="1B2A44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24</a:t>
            </a: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 सवारियाँ हैं। अगले बस अड्डे पर </a:t>
            </a:r>
            <a:r>
              <a:rPr lang="en-US" sz="1800">
                <a:solidFill>
                  <a:srgbClr val="1B2A44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16</a:t>
            </a: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 सवारियाँ और चढ़ गई। अब बस में कितनी सवारियाँ हो गईं? </a:t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2501003" y="3738950"/>
            <a:ext cx="1335024" cy="104431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4498848" y="3738950"/>
            <a:ext cx="1335024" cy="104431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2107692" y="2678637"/>
            <a:ext cx="4146804" cy="823517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9DC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3226308" y="2832357"/>
            <a:ext cx="646176" cy="521207"/>
          </a:xfrm>
          <a:prstGeom prst="roundRect">
            <a:avLst>
              <a:gd fmla="val 14000" name="adj"/>
            </a:avLst>
          </a:prstGeom>
          <a:solidFill>
            <a:srgbClr val="F4F8FE"/>
          </a:solidFill>
          <a:ln cap="flat" cmpd="sng" w="22225">
            <a:solidFill>
              <a:srgbClr val="1F6FD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4934712" y="2832357"/>
            <a:ext cx="265176" cy="521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DLaM Display"/>
                <a:ea typeface="ADLaM Display"/>
                <a:cs typeface="ADLaM Display"/>
                <a:sym typeface="ADLaM Display"/>
              </a:rPr>
              <a:t>=</a:t>
            </a:r>
            <a:endParaRPr b="1" sz="2800">
              <a:solidFill>
                <a:schemeClr val="dk1"/>
              </a:solidFill>
              <a:latin typeface="ADLaM Display"/>
              <a:ea typeface="ADLaM Display"/>
              <a:cs typeface="ADLaM Display"/>
              <a:sym typeface="ADLaM Display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5337048" y="2832357"/>
            <a:ext cx="758952" cy="521207"/>
          </a:xfrm>
          <a:prstGeom prst="roundRect">
            <a:avLst>
              <a:gd fmla="val 16667" name="adj"/>
            </a:avLst>
          </a:prstGeom>
          <a:solidFill>
            <a:srgbClr val="FFF1B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2255520" y="2809496"/>
            <a:ext cx="777240" cy="566928"/>
          </a:xfrm>
          <a:prstGeom prst="roundRect">
            <a:avLst>
              <a:gd fmla="val 16667" name="adj"/>
            </a:avLst>
          </a:prstGeom>
          <a:solidFill>
            <a:srgbClr val="FFF1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4066032" y="2809496"/>
            <a:ext cx="777240" cy="566928"/>
          </a:xfrm>
          <a:prstGeom prst="roundRect">
            <a:avLst>
              <a:gd fmla="val 16667" name="adj"/>
            </a:avLst>
          </a:prstGeom>
          <a:solidFill>
            <a:srgbClr val="FFF1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Page 6 · 06_STORY_SCENE.png</a:t>
            </a:r>
            <a:endParaRPr/>
          </a:p>
        </p:txBody>
      </p:sp>
      <p:pic>
        <p:nvPicPr>
          <p:cNvPr descr="06_STORY_SCENE.png" id="199" name="Google Shape;19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" y="5788152"/>
            <a:ext cx="1737360" cy="972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_practice.png" id="200" name="Google Shape;20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731520"/>
            <a:ext cx="768096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0"/>
          <p:cNvSpPr txBox="1"/>
          <p:nvPr/>
        </p:nvSpPr>
        <p:spPr>
          <a:xfrm>
            <a:off x="1417320" y="1091368"/>
            <a:ext cx="5486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सही चिह्न चुनकर संख्या वाक्य पूरा कीजिए</a:t>
            </a:r>
            <a:endParaRPr b="0" i="0" sz="1800">
              <a:solidFill>
                <a:srgbClr val="1B2A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8129017" y="685800"/>
            <a:ext cx="38862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entire slide content with the following: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सही चिह्न चुनकर संख्या वाक्य पूरा कीजिए।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Story Text: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एक दुकानदार के पास 60 चूड़ियाँ थीं। उसने 36 चूड़ियाँ बेच दीं। दुकानदार के पास कितनी चूड़ियाँ बची हैं?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VO1: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एक दुकानदार के पास 60 चूड़ियाँ थीं। उसने 36 चूड़ियाँ बेच दीं। दुकानदार के पास अब कितनी चूड़ियाँ बची हैं?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[Highlight the story text in sync with the VO.]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VO2: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इस कहानी के लिए सही चिह्न चुनिए।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 Action: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Drag and Drop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शाबाश! 60 घटा 36 बराबर 24.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[Move the </a:t>
            </a:r>
            <a:r>
              <a:rPr b="1"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symbol into the empty box and highlight the completed number sentence in sync with the VO.]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Feedback/Hints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WA1: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Bounce back + Hint VO: पहले 60 चूड़ियाँ थीं। फिर 36 चूड़ियाँ बेच दीं, तो चूड़ियाँ बढ़ी या कम हुईं?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[Play the animation of 36 bangles being removed, highlighting the remaining 24 bangles.]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WA2: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Wiggle the selected option, highlight/pulsate the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symbol, and fade out the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symbol. When the child taps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move it into the empty box and play the VO: “60 घटा 36 बराबर 24.”</a:t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868680" y="1554480"/>
            <a:ext cx="6675120" cy="9601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9DC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एक दुकानदार के पास </a:t>
            </a:r>
            <a:r>
              <a:rPr lang="en-US" sz="1800">
                <a:solidFill>
                  <a:srgbClr val="1B2A44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60</a:t>
            </a: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 चूड़ियाँ थी। उसने </a:t>
            </a:r>
            <a:r>
              <a:rPr lang="en-US" sz="1800">
                <a:solidFill>
                  <a:srgbClr val="1B2A44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36</a:t>
            </a: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 चूड़ियाँ बेच दी। दुकानदार के पास अब कितनी चूड़ियाँ बची हैं?</a:t>
            </a:r>
            <a:endParaRPr sz="1800">
              <a:solidFill>
                <a:srgbClr val="1B2A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2487168" y="3738950"/>
            <a:ext cx="1335024" cy="104431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4498848" y="3738950"/>
            <a:ext cx="1335024" cy="104431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2107692" y="2678637"/>
            <a:ext cx="4146804" cy="823517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9DC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3226308" y="2832357"/>
            <a:ext cx="646176" cy="521207"/>
          </a:xfrm>
          <a:prstGeom prst="roundRect">
            <a:avLst>
              <a:gd fmla="val 14000" name="adj"/>
            </a:avLst>
          </a:prstGeom>
          <a:solidFill>
            <a:srgbClr val="F4F8FE"/>
          </a:solidFill>
          <a:ln cap="flat" cmpd="sng" w="22225">
            <a:solidFill>
              <a:srgbClr val="1F6FD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 txBox="1"/>
          <p:nvPr/>
        </p:nvSpPr>
        <p:spPr>
          <a:xfrm>
            <a:off x="4934712" y="2832357"/>
            <a:ext cx="265176" cy="521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DLaM Display"/>
                <a:ea typeface="ADLaM Display"/>
                <a:cs typeface="ADLaM Display"/>
                <a:sym typeface="ADLaM Display"/>
              </a:rPr>
              <a:t>=</a:t>
            </a:r>
            <a:endParaRPr b="1" sz="2800">
              <a:solidFill>
                <a:schemeClr val="dk1"/>
              </a:solidFill>
              <a:latin typeface="ADLaM Display"/>
              <a:ea typeface="ADLaM Display"/>
              <a:cs typeface="ADLaM Display"/>
              <a:sym typeface="ADLaM Display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5337048" y="2832357"/>
            <a:ext cx="758952" cy="521207"/>
          </a:xfrm>
          <a:prstGeom prst="roundRect">
            <a:avLst>
              <a:gd fmla="val 16667" name="adj"/>
            </a:avLst>
          </a:prstGeom>
          <a:solidFill>
            <a:srgbClr val="FFF1B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2255520" y="2809496"/>
            <a:ext cx="777240" cy="566928"/>
          </a:xfrm>
          <a:prstGeom prst="roundRect">
            <a:avLst>
              <a:gd fmla="val 16667" name="adj"/>
            </a:avLst>
          </a:prstGeom>
          <a:solidFill>
            <a:srgbClr val="FFF1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4066032" y="2809496"/>
            <a:ext cx="777240" cy="566928"/>
          </a:xfrm>
          <a:prstGeom prst="roundRect">
            <a:avLst>
              <a:gd fmla="val 16667" name="adj"/>
            </a:avLst>
          </a:prstGeom>
          <a:solidFill>
            <a:srgbClr val="FFF1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Page 7 · 07_MEET_VACHAN.png</a:t>
            </a:r>
            <a:endParaRPr/>
          </a:p>
        </p:txBody>
      </p:sp>
      <p:pic>
        <p:nvPicPr>
          <p:cNvPr descr="07_MEET_VACHAN.png" id="217" name="Google Shape;21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5433977"/>
            <a:ext cx="2130552" cy="11923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_practice.png" id="218" name="Google Shape;21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731520"/>
            <a:ext cx="768096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1"/>
          <p:cNvSpPr txBox="1"/>
          <p:nvPr/>
        </p:nvSpPr>
        <p:spPr>
          <a:xfrm>
            <a:off x="1417320" y="1024128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सही संख्या वाक्य चुनिए।</a:t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868680" y="1554480"/>
            <a:ext cx="6675120" cy="9601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9DC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गोलू के पास </a:t>
            </a:r>
            <a:r>
              <a:rPr b="1" lang="en-US" sz="1800">
                <a:solidFill>
                  <a:srgbClr val="1B2A44"/>
                </a:solidFill>
                <a:highlight>
                  <a:srgbClr val="FFF2A8"/>
                </a:highlight>
                <a:latin typeface="Calibri"/>
                <a:ea typeface="Calibri"/>
                <a:cs typeface="Calibri"/>
                <a:sym typeface="Calibri"/>
              </a:rPr>
              <a:t>42</a:t>
            </a: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 गुब्बारे थे। दादी ने उसे </a:t>
            </a:r>
            <a:r>
              <a:rPr b="1" lang="en-US" sz="1800">
                <a:solidFill>
                  <a:srgbClr val="1B2A44"/>
                </a:solidFill>
                <a:highlight>
                  <a:srgbClr val="FFF2A8"/>
                </a:highlight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 गुब्बारे और दिए। 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अब गोलू के पास कितने गुब्बारे हैं?</a:t>
            </a:r>
            <a:endParaRPr sz="1800">
              <a:solidFill>
                <a:srgbClr val="1B2A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1024128" y="3337560"/>
            <a:ext cx="1993392" cy="73152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42 − 11 = 31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3218688" y="3337560"/>
            <a:ext cx="1993392" cy="73152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 + 11 = 53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5413248" y="3337560"/>
            <a:ext cx="1993392" cy="73152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 + 11 = 42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 txBox="1"/>
          <p:nvPr/>
        </p:nvSpPr>
        <p:spPr>
          <a:xfrm>
            <a:off x="8065008" y="685800"/>
            <a:ext cx="3886200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entire slide content with the following: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सही संख्या वाक्य चुनिए।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Story Text: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गोलू के पास 42 गुब्बारे थे। दादी ने उसे 11 गुब्बारे और दिए। अब गोलू के पास कितने गुब्बारे हैं?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VO1: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गोलू के पास 42 गुब्बारे थे। दादी ने उसे 11 गुब्बारे और दिए। अब गोलू के पास कितने गुब्बारे हैं?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VO2: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इस कहानी के लिए सही संख्या वाक्य पर टैप करिए।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शाबाश! 42 जोड़ 11 बराबर 53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Feedback/hint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WA1: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Wiggle + VO: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गोलू के पास पहले 42 गुब्बारे थे। फिर दादी ने 11 गुब्बारे और दिए। तो गुब्बारे बढ़े या कम हुए?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[Highlight the numbers in the story text in sync with VO.]</a:t>
            </a:r>
            <a:endParaRPr i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WA2: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Wiggle + Animation: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 42 balloons and animate 11 more balloons joining them.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WA3: Wiggle + Reveal the answer: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Highlight the correct option and fade out the other options. When the child taps the correct option, play the VO: “42 जोड़ 11 बराबर 53।”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Page 8 · 08_VACHAN_INTRO.png</a:t>
            </a:r>
            <a:endParaRPr/>
          </a:p>
        </p:txBody>
      </p:sp>
      <p:pic>
        <p:nvPicPr>
          <p:cNvPr descr="08_VACHAN_INTRO.png" id="230" name="Google Shape;23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" y="5962142"/>
            <a:ext cx="1426464" cy="798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_practice.png" id="231" name="Google Shape;23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731520"/>
            <a:ext cx="768096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2"/>
          <p:cNvSpPr txBox="1"/>
          <p:nvPr/>
        </p:nvSpPr>
        <p:spPr>
          <a:xfrm>
            <a:off x="1417320" y="1024128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सही संख्या वाक्य चुनिए।</a:t>
            </a:r>
            <a:endParaRPr/>
          </a:p>
        </p:txBody>
      </p:sp>
      <p:sp>
        <p:nvSpPr>
          <p:cNvPr id="233" name="Google Shape;233;p12"/>
          <p:cNvSpPr/>
          <p:nvPr/>
        </p:nvSpPr>
        <p:spPr>
          <a:xfrm>
            <a:off x="868680" y="1554480"/>
            <a:ext cx="6675120" cy="9601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9DC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दादी ने </a:t>
            </a:r>
            <a:r>
              <a:rPr b="1" lang="en-US" sz="1800">
                <a:solidFill>
                  <a:srgbClr val="1B2A44"/>
                </a:solidFill>
                <a:highlight>
                  <a:srgbClr val="FFF2A8"/>
                </a:highlight>
                <a:latin typeface="Calibri"/>
                <a:ea typeface="Calibri"/>
                <a:cs typeface="Calibri"/>
                <a:sym typeface="Calibri"/>
              </a:rPr>
              <a:t>35</a:t>
            </a: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 लड्डू बनाए। बच्चों ने </a:t>
            </a:r>
            <a:r>
              <a:rPr b="1" lang="en-US" sz="1800">
                <a:solidFill>
                  <a:srgbClr val="1B2A44"/>
                </a:solidFill>
                <a:highlight>
                  <a:srgbClr val="FFF2A8"/>
                </a:highlight>
                <a:latin typeface="Calibri"/>
                <a:ea typeface="Calibri"/>
                <a:cs typeface="Calibri"/>
                <a:sym typeface="Calibri"/>
              </a:rPr>
              <a:t>15</a:t>
            </a: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 लड्डू खा लिए। </a:t>
            </a:r>
            <a:endParaRPr sz="1800">
              <a:solidFill>
                <a:srgbClr val="1B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अब कितने लड्डू बचे?</a:t>
            </a:r>
            <a:endParaRPr sz="1800">
              <a:solidFill>
                <a:srgbClr val="1B2A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950977" y="3337560"/>
            <a:ext cx="1993392" cy="73152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 + 15 = 50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3145537" y="3337560"/>
            <a:ext cx="1993392" cy="73152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35 − 15 = 20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5340097" y="3337560"/>
            <a:ext cx="1993392" cy="73152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50 − 35 = 15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8129017" y="676656"/>
            <a:ext cx="38862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entire slide content with the following: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सही संख्या वाक्य चुनिए।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Story Text: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दीदी ने 35 लड्डू बनाए। बच्चों ने 15 लड्डू खा लिए। अब कितने लड्डू बचे?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VO1: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दादी ने 35 लड्डू बनाए। बच्चों ने 15 लड्डू खा लिए। अब कितने लड्डू बचे?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VO2: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इस कहानी के लिए सही संख्या वाक्य पर टैप करिए। </a:t>
            </a:r>
            <a:endParaRPr i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Correct Response (CR):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शाबाश! 35 घटा 15 बराबर 20. </a:t>
            </a:r>
            <a:endParaRPr i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Feedback/Hints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WA1: Wiggle + VO: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पहले 35 लड्डू थे। फिर बच्चों ने 15 लड्डू खा लिए। तो लड्डू बढ़े या कम हुए।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[Highlight the numbers in the story text in sync with VO.]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WA2: Wiggle + Animation: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 35 laddoos, then animate 15 laddoos moving away, leaving 20 laddoos.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WA3: Wiggle + Reveal the answer: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Highlight the correct number sentence, and fade out the incorrect options. When the child taps the correct option, move it into the answer box and play the VO: “35 घटा 15 बराबर 20”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Page 9 · 09_TAP_VACHAN.png</a:t>
            </a:r>
            <a:endParaRPr/>
          </a:p>
        </p:txBody>
      </p:sp>
      <p:pic>
        <p:nvPicPr>
          <p:cNvPr descr="09_TAP_VACHAN.png" id="243" name="Google Shape;24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" y="5747213"/>
            <a:ext cx="1810512" cy="10132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_practice.png" id="244" name="Google Shape;24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" y="795528"/>
            <a:ext cx="768096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3"/>
          <p:cNvSpPr txBox="1"/>
          <p:nvPr/>
        </p:nvSpPr>
        <p:spPr>
          <a:xfrm>
            <a:off x="1083564" y="1155376"/>
            <a:ext cx="5486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संख्या वाक्य बनाइए।</a:t>
            </a:r>
            <a:endParaRPr/>
          </a:p>
        </p:txBody>
      </p:sp>
      <p:sp>
        <p:nvSpPr>
          <p:cNvPr id="246" name="Google Shape;246;p13"/>
          <p:cNvSpPr/>
          <p:nvPr/>
        </p:nvSpPr>
        <p:spPr>
          <a:xfrm>
            <a:off x="534924" y="1618488"/>
            <a:ext cx="6675120" cy="950975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9DC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एक टोकरी में </a:t>
            </a:r>
            <a:r>
              <a:rPr b="1" lang="en-US" sz="1800">
                <a:solidFill>
                  <a:srgbClr val="1B2A44"/>
                </a:solidFill>
                <a:highlight>
                  <a:srgbClr val="FFF2A8"/>
                </a:highlight>
                <a:latin typeface="Calibri"/>
                <a:ea typeface="Calibri"/>
                <a:cs typeface="Calibri"/>
                <a:sym typeface="Calibri"/>
              </a:rPr>
              <a:t>27</a:t>
            </a: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 केले थे। बंदर </a:t>
            </a:r>
            <a:r>
              <a:rPr b="1" lang="en-US" sz="1800">
                <a:solidFill>
                  <a:srgbClr val="1B2A44"/>
                </a:solidFill>
                <a:highlight>
                  <a:srgbClr val="FFF2A8"/>
                </a:highlight>
                <a:latin typeface="Calibri"/>
                <a:ea typeface="Calibri"/>
                <a:cs typeface="Calibri"/>
                <a:sym typeface="Calibri"/>
              </a:rPr>
              <a:t>14</a:t>
            </a: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 केले ले गया। अब </a:t>
            </a:r>
            <a:r>
              <a:rPr b="1" lang="en-US" sz="1800">
                <a:solidFill>
                  <a:srgbClr val="1B2A44"/>
                </a:solidFill>
                <a:highlight>
                  <a:srgbClr val="FFF2A8"/>
                </a:highlight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 केले बचे।</a:t>
            </a:r>
            <a:endParaRPr sz="1800">
              <a:solidFill>
                <a:srgbClr val="1B2A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1784604" y="4128239"/>
            <a:ext cx="4206240" cy="768096"/>
          </a:xfrm>
          <a:prstGeom prst="roundRect">
            <a:avLst>
              <a:gd fmla="val 8000" name="adj"/>
            </a:avLst>
          </a:prstGeom>
          <a:solidFill>
            <a:srgbClr val="F2F4F8"/>
          </a:solidFill>
          <a:ln cap="flat" cmpd="sng" w="15875">
            <a:solidFill>
              <a:srgbClr val="C9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2013204" y="4228823"/>
            <a:ext cx="777240" cy="56692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3019044" y="4228823"/>
            <a:ext cx="777240" cy="56692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4024884" y="4228823"/>
            <a:ext cx="777240" cy="56692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5030724" y="4228823"/>
            <a:ext cx="777240" cy="56692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 txBox="1"/>
          <p:nvPr/>
        </p:nvSpPr>
        <p:spPr>
          <a:xfrm>
            <a:off x="7712964" y="685800"/>
            <a:ext cx="4296156" cy="1862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entire slide content with the following: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संख्या वाक्य बनाइए।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Story: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एक टोकरी में 27 केले थे। बंदर 14 केले ले गया। अब 13 केले बचे।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VO1: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एक टोकरी में 27 केले थे। बंदर 14 केले ले गया। अब 13 केले बचे।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VO2: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कार्ड रखकर इस कहानी का संख्या वाक्य बनाइए।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शाबाश! 27 घटा 14 बराबर 13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[Number sentence glow in sync with the VO.]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1851660" y="2742645"/>
            <a:ext cx="4078224" cy="823517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9DC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2892552" y="2896365"/>
            <a:ext cx="646176" cy="521207"/>
          </a:xfrm>
          <a:prstGeom prst="roundRect">
            <a:avLst>
              <a:gd fmla="val 14000" name="adj"/>
            </a:avLst>
          </a:prstGeom>
          <a:solidFill>
            <a:srgbClr val="F4F8FE"/>
          </a:solidFill>
          <a:ln cap="flat" cmpd="sng" w="22225">
            <a:solidFill>
              <a:srgbClr val="1F6FD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 txBox="1"/>
          <p:nvPr/>
        </p:nvSpPr>
        <p:spPr>
          <a:xfrm>
            <a:off x="4600956" y="2896365"/>
            <a:ext cx="265176" cy="521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DLaM Display"/>
                <a:ea typeface="ADLaM Display"/>
                <a:cs typeface="ADLaM Display"/>
                <a:sym typeface="ADLaM Display"/>
              </a:rPr>
              <a:t>=</a:t>
            </a:r>
            <a:endParaRPr b="1" sz="2800">
              <a:solidFill>
                <a:schemeClr val="dk1"/>
              </a:solidFill>
              <a:latin typeface="ADLaM Display"/>
              <a:ea typeface="ADLaM Display"/>
              <a:cs typeface="ADLaM Display"/>
              <a:sym typeface="ADLaM Display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5003292" y="2896365"/>
            <a:ext cx="758952" cy="521207"/>
          </a:xfrm>
          <a:prstGeom prst="roundRect">
            <a:avLst>
              <a:gd fmla="val 16667" name="adj"/>
            </a:avLst>
          </a:prstGeom>
          <a:solidFill>
            <a:srgbClr val="FFF1B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257" name="Google Shape;257;p13"/>
          <p:cNvSpPr/>
          <p:nvPr/>
        </p:nvSpPr>
        <p:spPr>
          <a:xfrm>
            <a:off x="3746754" y="2893799"/>
            <a:ext cx="646176" cy="521207"/>
          </a:xfrm>
          <a:prstGeom prst="roundRect">
            <a:avLst>
              <a:gd fmla="val 14000" name="adj"/>
            </a:avLst>
          </a:prstGeom>
          <a:solidFill>
            <a:srgbClr val="F4F8FE"/>
          </a:solidFill>
          <a:ln cap="flat" cmpd="sng" w="22225">
            <a:solidFill>
              <a:srgbClr val="1F6FD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2038350" y="2893798"/>
            <a:ext cx="646176" cy="521207"/>
          </a:xfrm>
          <a:prstGeom prst="roundRect">
            <a:avLst>
              <a:gd fmla="val 14000" name="adj"/>
            </a:avLst>
          </a:prstGeom>
          <a:solidFill>
            <a:srgbClr val="F4F8FE"/>
          </a:solidFill>
          <a:ln cap="flat" cmpd="sng" w="22225">
            <a:solidFill>
              <a:srgbClr val="1F6FD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9" name="Google Shape;259;p13"/>
          <p:cNvGraphicFramePr/>
          <p:nvPr/>
        </p:nvGraphicFramePr>
        <p:xfrm>
          <a:off x="7712965" y="2394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{9C210FC6-FF0E-491D-B214-EB127C71F003}</a:tableStyleId>
              </a:tblPr>
              <a:tblGrid>
                <a:gridCol w="1280775"/>
                <a:gridCol w="1256675"/>
                <a:gridCol w="1909575"/>
              </a:tblGrid>
              <a:tr h="10622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/>
                        <a:t>Feedback/hint</a:t>
                      </a:r>
                      <a:endParaRPr/>
                    </a:p>
                  </a:txBody>
                  <a:tcPr marT="37725" marB="37725" marR="75425" marL="75425" anchor="ctr"/>
                </a:tc>
                <a:tc hMerge="1"/>
                <a:tc hMerge="1"/>
              </a:tr>
              <a:tr h="10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Scenario</a:t>
                      </a:r>
                      <a:endParaRPr/>
                    </a:p>
                  </a:txBody>
                  <a:tcPr marT="37725" marB="37725" marR="75425" marL="75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1st Wrong Attempt</a:t>
                      </a:r>
                      <a:endParaRPr/>
                    </a:p>
                  </a:txBody>
                  <a:tcPr marT="37725" marB="37725" marR="75425" marL="75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2nd Wrong Attempt</a:t>
                      </a:r>
                      <a:endParaRPr/>
                    </a:p>
                  </a:txBody>
                  <a:tcPr marT="37725" marB="37725" marR="75425" marL="75425" anchor="ctr"/>
                </a:tc>
              </a:tr>
              <a:tr h="185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1. Operation in Number Box</a:t>
                      </a:r>
                      <a:endParaRPr/>
                    </a:p>
                  </a:txBody>
                  <a:tcPr marT="37725" marB="37725" marR="75425" marL="75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Bounce back.</a:t>
                      </a:r>
                      <a:endParaRPr/>
                    </a:p>
                  </a:txBody>
                  <a:tcPr marT="37725" marB="37725" marR="75425" marL="75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Bounce back + VO: “यहाँ संख्या रखनी है।”</a:t>
                      </a:r>
                      <a:endParaRPr/>
                    </a:p>
                  </a:txBody>
                  <a:tcPr marT="37725" marB="37725" marR="75425" marL="75425" anchor="ctr"/>
                </a:tc>
              </a:tr>
              <a:tr h="26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2. Number in Operation Box</a:t>
                      </a:r>
                      <a:endParaRPr/>
                    </a:p>
                  </a:txBody>
                  <a:tcPr marT="37725" marB="37725" marR="75425" marL="75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Bounce back.</a:t>
                      </a:r>
                      <a:endParaRPr/>
                    </a:p>
                  </a:txBody>
                  <a:tcPr marT="37725" marB="37725" marR="75425" marL="75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Bounce back + VO: “यहाँ जोड़ या घटाव का चिह्न आएगा।”</a:t>
                      </a:r>
                      <a:endParaRPr/>
                    </a:p>
                  </a:txBody>
                  <a:tcPr marT="37725" marB="37725" marR="75425" marL="75425" anchor="ctr"/>
                </a:tc>
              </a:tr>
              <a:tr h="50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3. Wrong Operation (+ instead of −)</a:t>
                      </a:r>
                      <a:endParaRPr/>
                    </a:p>
                  </a:txBody>
                  <a:tcPr marT="37725" marB="37725" marR="75425" marL="75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Bounce back + VO: “टोकरी में 27 केले थे। बंदर 14 केले ले गया। तो जोड़ करेंगे या घटाव?”</a:t>
                      </a:r>
                      <a:endParaRPr/>
                    </a:p>
                  </a:txBody>
                  <a:tcPr marT="37725" marB="37725" marR="75425" marL="75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Bounce back + Animation: Show 27 bananas in a basket, then animate 14 bananas being taken away by the monkey, leaving 13 bananas.</a:t>
                      </a:r>
                      <a:endParaRPr/>
                    </a:p>
                  </a:txBody>
                  <a:tcPr marT="37725" marB="37725" marR="75425" marL="75425" anchor="ctr"/>
                </a:tc>
              </a:tr>
              <a:tr h="26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4. Wrong Number in First Box (14 instead of 27)</a:t>
                      </a:r>
                      <a:endParaRPr/>
                    </a:p>
                  </a:txBody>
                  <a:tcPr marT="37725" marB="37725" marR="75425" marL="75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Bounce back.</a:t>
                      </a:r>
                      <a:endParaRPr/>
                    </a:p>
                  </a:txBody>
                  <a:tcPr marT="37725" marB="37725" marR="75425" marL="75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Bounce back + VO: “टोकरी में पहले कितने केले थे?”</a:t>
                      </a:r>
                      <a:endParaRPr/>
                    </a:p>
                  </a:txBody>
                  <a:tcPr marT="37725" marB="37725" marR="75425" marL="75425" anchor="ctr"/>
                </a:tc>
              </a:tr>
              <a:tr h="26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5. Wrong Number in Third Box (27 instead of 14)</a:t>
                      </a:r>
                      <a:endParaRPr/>
                    </a:p>
                  </a:txBody>
                  <a:tcPr marT="37725" marB="37725" marR="75425" marL="75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Bounce back.</a:t>
                      </a:r>
                      <a:endParaRPr/>
                    </a:p>
                  </a:txBody>
                  <a:tcPr marT="37725" marB="37725" marR="75425" marL="75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Bounce back + VO: “बंदर कितने केले ले गया?”</a:t>
                      </a:r>
                      <a:endParaRPr/>
                    </a:p>
                  </a:txBody>
                  <a:tcPr marT="37725" marB="37725" marR="75425" marL="75425" anchor="ctr"/>
                </a:tc>
              </a:tr>
            </a:tbl>
          </a:graphicData>
        </a:graphic>
      </p:graphicFrame>
      <p:sp>
        <p:nvSpPr>
          <p:cNvPr id="260" name="Google Shape;260;p13"/>
          <p:cNvSpPr txBox="1"/>
          <p:nvPr/>
        </p:nvSpPr>
        <p:spPr>
          <a:xfrm>
            <a:off x="7667244" y="5991006"/>
            <a:ext cx="4524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aseline="30000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Wrong Attempt: Highlight or ghost-drag only the correct card for the box where the child is struggling.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Idle (7 seconds): Pulse the next empty box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Page 10 · 10_SORT_VACHAN.png</a:t>
            </a:r>
            <a:endParaRPr/>
          </a:p>
        </p:txBody>
      </p:sp>
      <p:pic>
        <p:nvPicPr>
          <p:cNvPr descr="10_SORT_VACHAN.png" id="266" name="Google Shape;2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" y="5321808"/>
            <a:ext cx="2570654" cy="14386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_practice.png" id="267" name="Google Shape;26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8" y="685800"/>
            <a:ext cx="768096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4"/>
          <p:cNvSpPr txBox="1"/>
          <p:nvPr/>
        </p:nvSpPr>
        <p:spPr>
          <a:xfrm>
            <a:off x="1069848" y="1045648"/>
            <a:ext cx="5486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संख्या वाक्य बनाइए।</a:t>
            </a:r>
            <a:endParaRPr/>
          </a:p>
        </p:txBody>
      </p:sp>
      <p:sp>
        <p:nvSpPr>
          <p:cNvPr id="269" name="Google Shape;269;p14"/>
          <p:cNvSpPr/>
          <p:nvPr/>
        </p:nvSpPr>
        <p:spPr>
          <a:xfrm>
            <a:off x="521208" y="1508761"/>
            <a:ext cx="6675120" cy="98755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9DC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एक कक्षा में </a:t>
            </a:r>
            <a:r>
              <a:rPr b="1" lang="en-US" sz="1800">
                <a:solidFill>
                  <a:srgbClr val="1B2A44"/>
                </a:solidFill>
                <a:highlight>
                  <a:srgbClr val="FFF2A8"/>
                </a:highlight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 लड़के और </a:t>
            </a:r>
            <a:r>
              <a:rPr b="1" lang="en-US" sz="1800">
                <a:solidFill>
                  <a:srgbClr val="1B2A44"/>
                </a:solidFill>
                <a:highlight>
                  <a:srgbClr val="FFF2A8"/>
                </a:highlight>
                <a:latin typeface="Calibri"/>
                <a:ea typeface="Calibri"/>
                <a:cs typeface="Calibri"/>
                <a:sym typeface="Calibri"/>
              </a:rPr>
              <a:t>40</a:t>
            </a: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 लड़कियाँ हैं। </a:t>
            </a:r>
            <a:endParaRPr sz="1800">
              <a:solidFill>
                <a:srgbClr val="1B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कक्षा में कुल कितने बच्चे हैं?</a:t>
            </a:r>
            <a:endParaRPr/>
          </a:p>
        </p:txBody>
      </p:sp>
      <p:sp>
        <p:nvSpPr>
          <p:cNvPr id="270" name="Google Shape;270;p14"/>
          <p:cNvSpPr txBox="1"/>
          <p:nvPr/>
        </p:nvSpPr>
        <p:spPr>
          <a:xfrm>
            <a:off x="7670292" y="36691"/>
            <a:ext cx="4367022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entire slide content with the following: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संख्या वाक्य बनाइए।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Story Text: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एक कक्षा में 30 लड़के और 40 लड़कियाँ हैं। कक्षा में कुल कितने बच्चे हैं?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VO1: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एक कक्षा में 30 लड़के और 40 लड़कियाँ हैं। कक्षा में कुल कितने बच्चे हैं?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VO2: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कार्ड रखकर इस कहानी का संख्या वाक्य बनाइए।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शाबाश! 30 जोड़ 40 बराबर 70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[Number sentence glow in sync with the VO.] Reverse Number Order (40 + 30): Accept as correct and play the VO: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शाबाश! 40 जोड़ 30 बराबर 70.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1280160" y="4000222"/>
            <a:ext cx="5513832" cy="768096"/>
          </a:xfrm>
          <a:prstGeom prst="roundRect">
            <a:avLst>
              <a:gd fmla="val 8000" name="adj"/>
            </a:avLst>
          </a:prstGeom>
          <a:solidFill>
            <a:srgbClr val="F2F4F8"/>
          </a:solidFill>
          <a:ln cap="flat" cmpd="sng" w="15875">
            <a:solidFill>
              <a:srgbClr val="C9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1570482" y="4100806"/>
            <a:ext cx="777240" cy="56692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2596134" y="4100806"/>
            <a:ext cx="777240" cy="56692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4732782" y="4100806"/>
            <a:ext cx="777240" cy="56692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5752338" y="4087090"/>
            <a:ext cx="777240" cy="56692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1837944" y="2632917"/>
            <a:ext cx="4078224" cy="823517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9DC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2878836" y="2786637"/>
            <a:ext cx="646176" cy="521207"/>
          </a:xfrm>
          <a:prstGeom prst="roundRect">
            <a:avLst>
              <a:gd fmla="val 14000" name="adj"/>
            </a:avLst>
          </a:prstGeom>
          <a:solidFill>
            <a:srgbClr val="F4F8FE"/>
          </a:solidFill>
          <a:ln cap="flat" cmpd="sng" w="22225">
            <a:solidFill>
              <a:srgbClr val="1F6FD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 txBox="1"/>
          <p:nvPr/>
        </p:nvSpPr>
        <p:spPr>
          <a:xfrm>
            <a:off x="4587240" y="2786637"/>
            <a:ext cx="265176" cy="521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DLaM Display"/>
                <a:ea typeface="ADLaM Display"/>
                <a:cs typeface="ADLaM Display"/>
                <a:sym typeface="ADLaM Display"/>
              </a:rPr>
              <a:t>=</a:t>
            </a:r>
            <a:endParaRPr b="1" sz="2800">
              <a:solidFill>
                <a:schemeClr val="dk1"/>
              </a:solidFill>
              <a:latin typeface="ADLaM Display"/>
              <a:ea typeface="ADLaM Display"/>
              <a:cs typeface="ADLaM Display"/>
              <a:sym typeface="ADLaM Display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3733038" y="2784071"/>
            <a:ext cx="646176" cy="521207"/>
          </a:xfrm>
          <a:prstGeom prst="roundRect">
            <a:avLst>
              <a:gd fmla="val 14000" name="adj"/>
            </a:avLst>
          </a:prstGeom>
          <a:solidFill>
            <a:srgbClr val="F4F8FE"/>
          </a:solidFill>
          <a:ln cap="flat" cmpd="sng" w="22225">
            <a:solidFill>
              <a:srgbClr val="1F6FD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2024634" y="2784070"/>
            <a:ext cx="646176" cy="521207"/>
          </a:xfrm>
          <a:prstGeom prst="roundRect">
            <a:avLst>
              <a:gd fmla="val 14000" name="adj"/>
            </a:avLst>
          </a:prstGeom>
          <a:solidFill>
            <a:srgbClr val="F4F8FE"/>
          </a:solidFill>
          <a:ln cap="flat" cmpd="sng" w="22225">
            <a:solidFill>
              <a:srgbClr val="1F6FD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1" name="Google Shape;281;p14"/>
          <p:cNvGraphicFramePr/>
          <p:nvPr/>
        </p:nvGraphicFramePr>
        <p:xfrm>
          <a:off x="7727823" y="20060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{9C210FC6-FF0E-491D-B214-EB127C71F003}</a:tableStyleId>
              </a:tblPr>
              <a:tblGrid>
                <a:gridCol w="944125"/>
                <a:gridCol w="1967225"/>
                <a:gridCol w="1455675"/>
              </a:tblGrid>
              <a:tr h="2494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/>
                        <a:t>Feedback/hint</a:t>
                      </a:r>
                      <a:endParaRPr/>
                    </a:p>
                  </a:txBody>
                  <a:tcPr marT="45725" marB="45725" marR="91450" marL="91450" anchor="ctr"/>
                </a:tc>
                <a:tc hMerge="1"/>
                <a:tc hMerge="1"/>
              </a:tr>
              <a:tr h="249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/>
                        <a:t>Scenario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/>
                        <a:t>1</a:t>
                      </a:r>
                      <a:r>
                        <a:rPr baseline="30000" lang="en-US" sz="1050"/>
                        <a:t>st</a:t>
                      </a:r>
                      <a:r>
                        <a:rPr lang="en-US" sz="1050"/>
                        <a:t> Wrong Attempt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/>
                        <a:t>2</a:t>
                      </a:r>
                      <a:r>
                        <a:rPr baseline="30000" lang="en-US" sz="1050"/>
                        <a:t>nd</a:t>
                      </a:r>
                      <a:r>
                        <a:rPr lang="en-US" sz="1050"/>
                        <a:t> Wrong Attempt 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66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/>
                        <a:t>1. Operation in Number Box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/>
                        <a:t>Bounce back.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/>
                        <a:t>Bounce back + VO: “यहाँ संख्या रखनी है।”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66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/>
                        <a:t>2. Number in Operation Box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/>
                        <a:t>Bounce back.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/>
                        <a:t>Bounce back + VO: “यहाँ जोड़ या घटाव का चिह्न आएगा।”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0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/>
                        <a:t>3. Wrong Operation (− instead of +)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/>
                        <a:t>Bounce back + VO: “लड़के और लड़कियों को मिलाकर कुल बच्चे बताने हैं। तो जोड़ करेंगे या घटाव?”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/>
                        <a:t>Bounce back + Animation: Show 30 boys and 40 girls as two groups, then animate both groups coming together.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0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/>
                        <a:t>4. Wrong Number in last Box (30 or 40 instead of 70)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/>
                        <a:t>Bounce back.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/>
                        <a:t>Bounce back + VO: “कक्षा में कुल कितने बच्चे हैं?”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82" name="Google Shape;282;p14"/>
          <p:cNvSpPr/>
          <p:nvPr/>
        </p:nvSpPr>
        <p:spPr>
          <a:xfrm flipH="1" rot="10800000">
            <a:off x="2908681" y="-1353033"/>
            <a:ext cx="10823787" cy="457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 txBox="1"/>
          <p:nvPr/>
        </p:nvSpPr>
        <p:spPr>
          <a:xfrm>
            <a:off x="7727823" y="5828067"/>
            <a:ext cx="4367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aseline="30000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Wrong Attempt: Highlight or ghost-drag only the correct card for the box where the child is struggling.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Idle (7 seconds): Pulse the next empty box.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3648456" y="4100806"/>
            <a:ext cx="777240" cy="56692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70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5047869" y="2786637"/>
            <a:ext cx="646176" cy="521207"/>
          </a:xfrm>
          <a:prstGeom prst="roundRect">
            <a:avLst>
              <a:gd fmla="val 14000" name="adj"/>
            </a:avLst>
          </a:prstGeom>
          <a:solidFill>
            <a:srgbClr val="F4F8FE"/>
          </a:solidFill>
          <a:ln cap="flat" cmpd="sng" w="22225">
            <a:solidFill>
              <a:srgbClr val="1F6FD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Page 11 · 11_MATCH_DRAG_N.png</a:t>
            </a:r>
            <a:endParaRPr/>
          </a:p>
        </p:txBody>
      </p:sp>
      <p:pic>
        <p:nvPicPr>
          <p:cNvPr descr="11_MATCH_DRAG_N.png" id="291" name="Google Shape;29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" y="5557872"/>
            <a:ext cx="2148840" cy="120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_practice.png" id="292" name="Google Shape;29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731520"/>
            <a:ext cx="768096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5"/>
          <p:cNvSpPr txBox="1"/>
          <p:nvPr/>
        </p:nvSpPr>
        <p:spPr>
          <a:xfrm>
            <a:off x="1417320" y="1024128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सही कहानी चुनिए।</a:t>
            </a:r>
            <a:endParaRPr/>
          </a:p>
        </p:txBody>
      </p:sp>
      <p:sp>
        <p:nvSpPr>
          <p:cNvPr id="294" name="Google Shape;294;p15"/>
          <p:cNvSpPr/>
          <p:nvPr/>
        </p:nvSpPr>
        <p:spPr>
          <a:xfrm>
            <a:off x="2788920" y="1901952"/>
            <a:ext cx="2834640" cy="65836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6A3FB5"/>
                </a:solidFill>
                <a:latin typeface="Calibri"/>
                <a:ea typeface="Calibri"/>
                <a:cs typeface="Calibri"/>
                <a:sym typeface="Calibri"/>
              </a:rPr>
              <a:t>32 − 17 = 15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1078992" y="3429000"/>
            <a:ext cx="2944368" cy="12344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9DC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32 आम थे। 17 आम और खरीदे। अब कुल कितने आम है? </a:t>
            </a: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4645152" y="3429000"/>
            <a:ext cx="2944368" cy="12344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9DC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32 गुब्बारे थे। उसमें से 17 गुब्बारे फूट गए। अब कितने गुब्बारे बचे?</a:t>
            </a:r>
            <a:endParaRPr/>
          </a:p>
        </p:txBody>
      </p:sp>
      <p:sp>
        <p:nvSpPr>
          <p:cNvPr id="297" name="Google Shape;297;p15"/>
          <p:cNvSpPr txBox="1"/>
          <p:nvPr/>
        </p:nvSpPr>
        <p:spPr>
          <a:xfrm>
            <a:off x="8138160" y="685800"/>
            <a:ext cx="37857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entire slide content with the following: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सही कहानी चुनिए।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Equation: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32 − 17 = 15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VO1: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यह संख्या वाक्य किस कहानी का है? सही कहानी पर टैप करिए।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[Highlight the equation card in sync with the VO.]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Story 1 VO: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32 आम थे। 17 आम और खरीदे। अब कुल कितने आम है?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Story 2 VO: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32 गुब्बारे थे। उनमें से 17 गुब्बारे फूट गए। अब कितने गुब्बारे बचे?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Correct Response (CR):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शाबाश!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[Highlight the correct story card.]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Feedback/Hints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WA1: Hint VO: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32 घटा 17, यानी 32 में से 17 चीज़ें कम हुईं। किस कहानी में ऐसा हुआ?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[Wiggle the selected card. Highlight </a:t>
            </a:r>
            <a:r>
              <a:rPr b="1"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 → − → 17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sync with the VO.]</a:t>
            </a:r>
            <a:endParaRPr i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WA2: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Wiggle the selected card, highlight/pulsate the correct story card, and fade out the incorrect cards. Allow the child to tap the correct card.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Page 12 · 12_TAP_PICTURE_BY_VACHAN.png</a:t>
            </a:r>
            <a:endParaRPr/>
          </a:p>
        </p:txBody>
      </p:sp>
      <p:pic>
        <p:nvPicPr>
          <p:cNvPr descr="12_TAP_PICTURE_BY_VACHAN.png" id="303" name="Google Shape;3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" y="5788152"/>
            <a:ext cx="1737360" cy="972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_practice.png" id="304" name="Google Shape;30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731520"/>
            <a:ext cx="768096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6"/>
          <p:cNvSpPr txBox="1"/>
          <p:nvPr/>
        </p:nvSpPr>
        <p:spPr>
          <a:xfrm>
            <a:off x="1417320" y="1024128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सही कहानी चुनिए।</a:t>
            </a:r>
            <a:endParaRPr/>
          </a:p>
        </p:txBody>
      </p:sp>
      <p:sp>
        <p:nvSpPr>
          <p:cNvPr id="306" name="Google Shape;306;p16"/>
          <p:cNvSpPr/>
          <p:nvPr/>
        </p:nvSpPr>
        <p:spPr>
          <a:xfrm>
            <a:off x="2798063" y="1920242"/>
            <a:ext cx="2834640" cy="65836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E7C6E"/>
                </a:solidFill>
                <a:latin typeface="Calibri"/>
                <a:ea typeface="Calibri"/>
                <a:cs typeface="Calibri"/>
                <a:sym typeface="Calibri"/>
              </a:rPr>
              <a:t>34 + 15 = 49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 txBox="1"/>
          <p:nvPr/>
        </p:nvSpPr>
        <p:spPr>
          <a:xfrm>
            <a:off x="8138160" y="685800"/>
            <a:ext cx="38862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entire slide content with the following: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सही कहानी चुनिए।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Equation: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34 + 15 = 49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VO1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यह संख्या वाक्य किस कहानी का है? सही कहानी चुनिए।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[Highlight the equation card in sync with the VO.]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Story 1 VO: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एक बगीचे में 34 फूल थे। उनमें से 15 फूल तोड़ लिए। बगीचे मे कितने फूल बचे?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Story 2 VO: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रीना के पास 34 टॉफियाँ थीं। माँ ने उसे 15 टॉफियाँ और दी। अब रीना के पास कितनी टॉफियाँ हो गई?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Correct Response (CR):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शाबाश!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[Highlight the correct story card.]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Feedback/Hints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WA1: Hint VO: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34 जोड़ 15, यानी 34 चीज़ों में 15 चीज़ें और मिलीं। किस कहानी में ऐसा हुआ?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[Wiggle the selected card. Highlight </a:t>
            </a:r>
            <a:r>
              <a:rPr b="1"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 → + → 15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sync with the VO.]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WA2: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[Wiggle the selected card, highlight/pulsate the correct story card, and fade out the incorrect cards. Allow the child to tap the correct card.]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1078992" y="3429000"/>
            <a:ext cx="2944368" cy="12344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9DC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एक बगीचे में 34 फूल थे। उनमें से 15 फूल तोड़ लिए। बगीचे में कितने फूल बचे?  </a:t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4645152" y="3429000"/>
            <a:ext cx="2944368" cy="12344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9DC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रीना के पास 34 टॉफियाँ थीं। माँ ने उसे 15 टॉफियाँ और दी। अब रीना के पास कितनी टॉफियाँ हो गई?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Page 13 · 13_TAP_VACHAN.png</a:t>
            </a:r>
            <a:endParaRPr/>
          </a:p>
        </p:txBody>
      </p:sp>
      <p:pic>
        <p:nvPicPr>
          <p:cNvPr descr="13_TAP_VACHAN.png" id="315" name="Google Shape;3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736" y="5645634"/>
            <a:ext cx="1801368" cy="10081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_practice.png" id="316" name="Google Shape;31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731520"/>
            <a:ext cx="768096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7"/>
          <p:cNvSpPr txBox="1"/>
          <p:nvPr/>
        </p:nvSpPr>
        <p:spPr>
          <a:xfrm>
            <a:off x="1417320" y="1091368"/>
            <a:ext cx="5486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संख्या वाक्य </a:t>
            </a: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देखकर </a:t>
            </a:r>
            <a:r>
              <a:rPr b="0" i="0"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कहानी पूरी </a:t>
            </a: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कीजिए</a:t>
            </a:r>
            <a:r>
              <a:rPr b="0" i="0"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।</a:t>
            </a:r>
            <a:endParaRPr/>
          </a:p>
        </p:txBody>
      </p:sp>
      <p:sp>
        <p:nvSpPr>
          <p:cNvPr id="318" name="Google Shape;318;p17"/>
          <p:cNvSpPr/>
          <p:nvPr/>
        </p:nvSpPr>
        <p:spPr>
          <a:xfrm>
            <a:off x="856816" y="2334383"/>
            <a:ext cx="6675120" cy="1216985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9DC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 txBox="1"/>
          <p:nvPr/>
        </p:nvSpPr>
        <p:spPr>
          <a:xfrm>
            <a:off x="1176831" y="2527234"/>
            <a:ext cx="6035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सीमा के पास         टॉफियाँ थीं। उसने          टॉफियाँ अपने दोस्तों को दे दीं। अब सीमा के पास           टॉफियाँ बचीं। </a:t>
            </a:r>
            <a:endParaRPr sz="1800">
              <a:solidFill>
                <a:srgbClr val="1B2A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3197680" y="1605205"/>
            <a:ext cx="1993392" cy="49233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35 − 18 = 17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 txBox="1"/>
          <p:nvPr/>
        </p:nvSpPr>
        <p:spPr>
          <a:xfrm>
            <a:off x="7894320" y="856649"/>
            <a:ext cx="4389119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entire slide content with the following: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संख्या वाक्य देखकर कहानी पूरी कीजिए।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Equation: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35 − 18 = 17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Story Text: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सीमा के पास ___ टॉफियाँ थीं। उसने ___ टॉफियाँ अपने दोस्तों को दे दीं। अब सीमा के पास ___ टॉफियाँ बचीं।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VO1: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35 घटा 18 बराबर 17। अब इस संख्या वाक्य को देखकर कहानी पूरी कीजिए।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[Highlight </a:t>
            </a:r>
            <a:r>
              <a:rPr b="1"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 → − → 18 → = → 17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sequentially in sync with the VO.]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VO2: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सीमा के पास कुछ टॉफियाँ थीं। उसने कुछ टॉफियाँ अपने दोस्तों को दे दीं। अब सीमा के पास कितनी टॉफियाँ बचीं।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[Highlight each sentence in sync with the VO. Pulsate the corresponding empty box when the narrator says “कुछ टॉफियाँ”..]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 Interaction: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[Highlight the boxes one by one and child taps the correct number for the corresponding box.] If the child taps an empty box, play the corresponding contextual VO: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Box 1 VO: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सीमा के पास शुरू में कितनी टॉफियाँ थीं?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Box 2 VO: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सीमा ने कितनी टॉफियाँ अपने दोस्तों को दे दीं?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Box 3 VO: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अब सीमा के पास कितनी टॉफियाँ बचीं?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शाबाश! सीमा के पास 35 टॉफियाँ थीं। उसने 18 टॉफियाँ अपने दोस्तों को दे दीं। अब सीमा के पास 17 टॉफियाँ बचीं।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[Highlight the completed story and the corresponding numbers in the equation sequentially in sync with the VO.]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Feedback/Hints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Wrong attempt: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Wiggle and bounce back the incorrectly placed card.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2357796" y="2527216"/>
            <a:ext cx="479700" cy="336900"/>
          </a:xfrm>
          <a:prstGeom prst="roundRect">
            <a:avLst>
              <a:gd fmla="val 16667" name="adj"/>
            </a:avLst>
          </a:prstGeom>
          <a:solidFill>
            <a:srgbClr val="DAEEF3"/>
          </a:solidFill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4400299" y="2527222"/>
            <a:ext cx="479700" cy="336900"/>
          </a:xfrm>
          <a:prstGeom prst="roundRect">
            <a:avLst>
              <a:gd fmla="val 16667" name="adj"/>
            </a:avLst>
          </a:prstGeom>
          <a:solidFill>
            <a:srgbClr val="DAEEF3"/>
          </a:solidFill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4259449" y="3057352"/>
            <a:ext cx="479700" cy="336900"/>
          </a:xfrm>
          <a:prstGeom prst="roundRect">
            <a:avLst>
              <a:gd fmla="val 16667" name="adj"/>
            </a:avLst>
          </a:prstGeom>
          <a:solidFill>
            <a:srgbClr val="DAEEF3"/>
          </a:solidFill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2103120" y="4070399"/>
            <a:ext cx="4206240" cy="768096"/>
          </a:xfrm>
          <a:prstGeom prst="roundRect">
            <a:avLst>
              <a:gd fmla="val 8000" name="adj"/>
            </a:avLst>
          </a:prstGeom>
          <a:solidFill>
            <a:srgbClr val="F2F4F8"/>
          </a:solidFill>
          <a:ln cap="flat" cmpd="sng" w="15875">
            <a:solidFill>
              <a:srgbClr val="C9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2476211" y="4170983"/>
            <a:ext cx="777240" cy="56692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3805756" y="4181446"/>
            <a:ext cx="777240" cy="56692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5173980" y="4170983"/>
            <a:ext cx="777240" cy="56692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Page 14 · 14_TAP_PICTURE_BY_VACHAN.png</a:t>
            </a:r>
            <a:endParaRPr/>
          </a:p>
        </p:txBody>
      </p:sp>
      <p:pic>
        <p:nvPicPr>
          <p:cNvPr descr="14_TAP_PICTURE_BY_VACHAN.png" id="334" name="Google Shape;3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" y="5788152"/>
            <a:ext cx="1737360" cy="972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8"/>
          <p:cNvSpPr txBox="1"/>
          <p:nvPr/>
        </p:nvSpPr>
        <p:spPr>
          <a:xfrm>
            <a:off x="7757160" y="767374"/>
            <a:ext cx="4334256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entire slide content with the following: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संख्या वाक्य देखकर कहानी पूरी कीजिए।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Equation: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26 + 13 = 39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Story Text: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पुस्तकालय में ___ किताबें थीं। वहाँ ___ किताबें और आईं। अब पुस्तकालय में कुल ___ किताबें हो गईं।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VO1: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26 जोड़ 13 बराबर 39। अब इस संख्या वाक्य को देखकर कहानी पूरी कीजिए।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[Highlight </a:t>
            </a:r>
            <a:r>
              <a:rPr b="1"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 → + → 13 → = → 39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sequentially in sync with the VO.]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VO2: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स्कूल के पुस्तकालय में कुछ किताबें थीं। वहाँ कुछ किताबें और आईं। अब पुस्तकालय में कुल कितनी किताबें हो गईं।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[Highlight each sentence in sync with the VO. Pulsate the corresponding empty box when the narrator says “कुछ किताबें”.]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 Interaction: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Drag and drop. Allow the child to fill the blanks in any order. If the child taps an empty box, play the corresponding contextual VO: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Box 1 VO: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पुस्तकालय में शुरू में कितनी किताबें थीं?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Box 2 VO: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पुस्तकालय में कितनी किताबें और आईं?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Box 3 VO: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अब पुस्तकालय में कुल कितनी किताबें हो गईं?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Correct Response (CR):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शाबाश! पुस्तकालय में 26 किताबें थीं। वहाँ 13 किताबें और आईं। अब पुस्तकालय में कुल 39 किताबें हो गईं।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[Highlight the completed story and the corresponding numbers in the equation sequentially in sync with the VO.]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Feedback/Hints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Wrong attempt: Wiggle and bounce back the incorrectly placed card. </a:t>
            </a:r>
            <a:endParaRPr/>
          </a:p>
        </p:txBody>
      </p:sp>
      <p:pic>
        <p:nvPicPr>
          <p:cNvPr descr="frame_practice.png" id="336" name="Google Shape;33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84" y="756622"/>
            <a:ext cx="768096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8"/>
          <p:cNvSpPr txBox="1"/>
          <p:nvPr/>
        </p:nvSpPr>
        <p:spPr>
          <a:xfrm>
            <a:off x="1152144" y="1116470"/>
            <a:ext cx="5486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संख्या वाक्य </a:t>
            </a: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देखकर </a:t>
            </a:r>
            <a:r>
              <a:rPr b="0" i="0"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कहानी पूरी </a:t>
            </a: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कीजिए</a:t>
            </a:r>
            <a:r>
              <a:rPr b="0" i="0"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।</a:t>
            </a:r>
            <a:endParaRPr/>
          </a:p>
        </p:txBody>
      </p:sp>
      <p:sp>
        <p:nvSpPr>
          <p:cNvPr id="338" name="Google Shape;338;p18"/>
          <p:cNvSpPr/>
          <p:nvPr/>
        </p:nvSpPr>
        <p:spPr>
          <a:xfrm>
            <a:off x="591640" y="2359485"/>
            <a:ext cx="6675120" cy="1216985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9DC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8"/>
          <p:cNvSpPr txBox="1"/>
          <p:nvPr/>
        </p:nvSpPr>
        <p:spPr>
          <a:xfrm>
            <a:off x="911675" y="2556539"/>
            <a:ext cx="6035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पुस्तकालय में              किताबें थीं। वहाँ              किताबें और आईं। अब पुस्तकालय में कुल             किताबें हो गईं।</a:t>
            </a: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40" name="Google Shape;340;p18"/>
          <p:cNvSpPr/>
          <p:nvPr/>
        </p:nvSpPr>
        <p:spPr>
          <a:xfrm>
            <a:off x="2932504" y="1630307"/>
            <a:ext cx="1993392" cy="49233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 + 13 = 39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2259225" y="2542056"/>
            <a:ext cx="479700" cy="336900"/>
          </a:xfrm>
          <a:prstGeom prst="roundRect">
            <a:avLst>
              <a:gd fmla="val 16667" name="adj"/>
            </a:avLst>
          </a:prstGeom>
          <a:solidFill>
            <a:srgbClr val="DAEEF3"/>
          </a:solidFill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4297640" y="2544347"/>
            <a:ext cx="479692" cy="336804"/>
          </a:xfrm>
          <a:prstGeom prst="roundRect">
            <a:avLst>
              <a:gd fmla="val 16667" name="adj"/>
            </a:avLst>
          </a:prstGeom>
          <a:solidFill>
            <a:srgbClr val="DAEEF3"/>
          </a:solidFill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3851476" y="3088662"/>
            <a:ext cx="479692" cy="336804"/>
          </a:xfrm>
          <a:prstGeom prst="roundRect">
            <a:avLst>
              <a:gd fmla="val 16667" name="adj"/>
            </a:avLst>
          </a:prstGeom>
          <a:solidFill>
            <a:srgbClr val="DAEEF3"/>
          </a:solidFill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1837944" y="4095501"/>
            <a:ext cx="4206240" cy="768096"/>
          </a:xfrm>
          <a:prstGeom prst="roundRect">
            <a:avLst>
              <a:gd fmla="val 8000" name="adj"/>
            </a:avLst>
          </a:prstGeom>
          <a:solidFill>
            <a:srgbClr val="F2F4F8"/>
          </a:solidFill>
          <a:ln cap="flat" cmpd="sng" w="15875">
            <a:solidFill>
              <a:srgbClr val="C9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2211035" y="4196085"/>
            <a:ext cx="777240" cy="56692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3540580" y="4206548"/>
            <a:ext cx="777240" cy="56692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4908804" y="4196085"/>
            <a:ext cx="777240" cy="56692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9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Page 15 · 15_SORT_VACHAN.png</a:t>
            </a:r>
            <a:endParaRPr/>
          </a:p>
        </p:txBody>
      </p:sp>
      <p:pic>
        <p:nvPicPr>
          <p:cNvPr descr="15_SORT_VACHAN.png" id="353" name="Google Shape;3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449" y="5608868"/>
            <a:ext cx="1856232" cy="10388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_practice.png" id="354" name="Google Shape;35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731520"/>
            <a:ext cx="768096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9"/>
          <p:cNvSpPr txBox="1"/>
          <p:nvPr/>
        </p:nvSpPr>
        <p:spPr>
          <a:xfrm>
            <a:off x="1417320" y="1091368"/>
            <a:ext cx="5486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संख्या वाक्य </a:t>
            </a: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देखकर </a:t>
            </a:r>
            <a:r>
              <a:rPr b="0" i="0"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कहानी पूरी </a:t>
            </a:r>
            <a:r>
              <a:rPr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कीजिए</a:t>
            </a:r>
            <a:r>
              <a:rPr b="0" i="0" lang="en-US" sz="18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।</a:t>
            </a:r>
            <a:endParaRPr/>
          </a:p>
        </p:txBody>
      </p:sp>
      <p:sp>
        <p:nvSpPr>
          <p:cNvPr id="356" name="Google Shape;356;p19"/>
          <p:cNvSpPr/>
          <p:nvPr/>
        </p:nvSpPr>
        <p:spPr>
          <a:xfrm>
            <a:off x="856816" y="2334383"/>
            <a:ext cx="6675120" cy="1216985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9DC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9"/>
          <p:cNvSpPr txBox="1"/>
          <p:nvPr/>
        </p:nvSpPr>
        <p:spPr>
          <a:xfrm>
            <a:off x="1176856" y="2343528"/>
            <a:ext cx="6035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एक दुकान में          गेंदे थीं। दुकानदार ने           गेंदे बेच दीं। अब दुकान में        गेंदे बचीं। </a:t>
            </a:r>
            <a:endParaRPr sz="1800">
              <a:solidFill>
                <a:srgbClr val="1B2A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3197680" y="1605205"/>
            <a:ext cx="1993392" cy="49233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57 − 17 = 40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 txBox="1"/>
          <p:nvPr/>
        </p:nvSpPr>
        <p:spPr>
          <a:xfrm>
            <a:off x="7894320" y="856649"/>
            <a:ext cx="4389119" cy="423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entire slide content with the following: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संख्या वाक्य देखकर कहानी पूरी कीजिए।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Equation: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57 − 17 = 40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Story Text: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एक दुकान में ___ गेंदे थीं। दुकानदार ने ___ गेंदे बेच दीं। अब दुकान में ___ गेंदे बचीं। </a:t>
            </a:r>
            <a:endParaRPr sz="1100">
              <a:solidFill>
                <a:srgbClr val="1B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VO1: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57 घटा 17 बराबर 40। अब इस संख्या वाक्य को देखकर कहानी पूरी कीजिए।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[Highlight </a:t>
            </a:r>
            <a:r>
              <a:rPr b="1"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57 → − → 17 → = → 40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sequentially in sync with the VO.]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VO2: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एक दुकान में कुछ गेंदे थीं। दुकानदार ने कुछ गेंदे बेच दीं। अब दुकान में कितनी गेंदे बचीं।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[Highlight each sentence in sync with the VO. Pulsate the corresponding empty box when the narrator says “कुछ टॉफियाँ”..]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 Interaction: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[Highlight the boxes one by one and child taps the correct number for the corresponding box.] If the child taps an empty box, play the corresponding contextual VO: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Box 1 VO: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दुकान में पहले कितनी गेंदे थीं?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Box 2 VO: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दुकानदायर ने कितनी गेंदे बेच दीं?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Box 3 VO: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अब दुकान में कितनी गेंदे बचीं?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शाबाश! एक दुकान में पास 57 गेंदे थीं। दुकानदार ने 17 गेंदे बेच दीं। अब दुकान में 40 गेंदे बचीं। </a:t>
            </a: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[Highlight the completed story and the corresponding numbers in the equation sequentially in sync with the VO.]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Feedback/Hints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Wrong attempt: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Wiggle and bounce back the incorrectly placed card.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2356713" y="2438497"/>
            <a:ext cx="479700" cy="336900"/>
          </a:xfrm>
          <a:prstGeom prst="roundRect">
            <a:avLst>
              <a:gd fmla="val 16667" name="adj"/>
            </a:avLst>
          </a:prstGeom>
          <a:solidFill>
            <a:srgbClr val="DAEEF3"/>
          </a:solidFill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9"/>
          <p:cNvSpPr/>
          <p:nvPr/>
        </p:nvSpPr>
        <p:spPr>
          <a:xfrm>
            <a:off x="4694283" y="2438547"/>
            <a:ext cx="479700" cy="336900"/>
          </a:xfrm>
          <a:prstGeom prst="roundRect">
            <a:avLst>
              <a:gd fmla="val 16667" name="adj"/>
            </a:avLst>
          </a:prstGeom>
          <a:solidFill>
            <a:srgbClr val="DAEEF3"/>
          </a:solidFill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3662391" y="2915567"/>
            <a:ext cx="479700" cy="336900"/>
          </a:xfrm>
          <a:prstGeom prst="roundRect">
            <a:avLst>
              <a:gd fmla="val 16667" name="adj"/>
            </a:avLst>
          </a:prstGeom>
          <a:solidFill>
            <a:srgbClr val="DAEEF3"/>
          </a:solidFill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2103120" y="4070399"/>
            <a:ext cx="4206240" cy="768096"/>
          </a:xfrm>
          <a:prstGeom prst="roundRect">
            <a:avLst>
              <a:gd fmla="val 8000" name="adj"/>
            </a:avLst>
          </a:prstGeom>
          <a:solidFill>
            <a:srgbClr val="F2F4F8"/>
          </a:solidFill>
          <a:ln cap="flat" cmpd="sng" w="15875">
            <a:solidFill>
              <a:srgbClr val="C9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9"/>
          <p:cNvSpPr/>
          <p:nvPr/>
        </p:nvSpPr>
        <p:spPr>
          <a:xfrm>
            <a:off x="2476211" y="4170983"/>
            <a:ext cx="777240" cy="56692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9"/>
          <p:cNvSpPr/>
          <p:nvPr/>
        </p:nvSpPr>
        <p:spPr>
          <a:xfrm>
            <a:off x="3805756" y="4181446"/>
            <a:ext cx="777240" cy="56692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5173980" y="4170983"/>
            <a:ext cx="777240" cy="56692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0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Page 16 · 16_MATCH_DRAG_N.png</a:t>
            </a:r>
            <a:endParaRPr/>
          </a:p>
        </p:txBody>
      </p:sp>
      <p:pic>
        <p:nvPicPr>
          <p:cNvPr descr="16_MATCH_DRAG_N.png" id="372" name="Google Shape;3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5339157"/>
            <a:ext cx="2468880" cy="13816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video game&#10;&#10;AI-generated content may be incorrect." id="373" name="Google Shape;37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6786" y="509524"/>
            <a:ext cx="8758428" cy="5838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Page 17 · 17_SEQUENCE_NEXT.png</a:t>
            </a:r>
            <a:endParaRPr/>
          </a:p>
        </p:txBody>
      </p:sp>
      <p:pic>
        <p:nvPicPr>
          <p:cNvPr descr="17_SEQUENCE_NEXT.png" id="379" name="Google Shape;3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685800"/>
            <a:ext cx="6217920" cy="347979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1"/>
          <p:cNvSpPr txBox="1"/>
          <p:nvPr/>
        </p:nvSpPr>
        <p:spPr>
          <a:xfrm>
            <a:off x="7306056" y="685800"/>
            <a:ext cx="3886200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 this slide.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2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Page 18 · 18_SEQUENCE_COMPLETE.png</a:t>
            </a:r>
            <a:endParaRPr/>
          </a:p>
        </p:txBody>
      </p:sp>
      <p:pic>
        <p:nvPicPr>
          <p:cNvPr descr="18_SEQUENCE_COMPLETE.png" id="386" name="Google Shape;38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685800"/>
            <a:ext cx="6208776" cy="3474676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2"/>
          <p:cNvSpPr txBox="1"/>
          <p:nvPr/>
        </p:nvSpPr>
        <p:spPr>
          <a:xfrm>
            <a:off x="7306056" y="685800"/>
            <a:ext cx="3886200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 this slide.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3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Page 19 · 19_CELEBRATION.png</a:t>
            </a:r>
            <a:endParaRPr/>
          </a:p>
        </p:txBody>
      </p:sp>
      <p:pic>
        <p:nvPicPr>
          <p:cNvPr descr="19_CELEBRATION.png" id="393" name="Google Shape;39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731520"/>
            <a:ext cx="7680960" cy="4298571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3"/>
          <p:cNvSpPr txBox="1"/>
          <p:nvPr/>
        </p:nvSpPr>
        <p:spPr>
          <a:xfrm>
            <a:off x="8229600" y="685800"/>
            <a:ext cx="35937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B3D8C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Celebration: Swiftie celebrates.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 all 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texts.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VO: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शाबाश! आपने 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कर दिखाया।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